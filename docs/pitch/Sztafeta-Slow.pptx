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971a7c0f-3584-a378-a137-63b1633a5252}">
          <p14:sldIdLst>
            <p14:sldId id="256"/>
            <p14:sldId id="257"/>
            <p14:sldId id="258"/>
          </p14:sldIdLst>
        </p14:section>
        <p14:section name="Rozwiązanie" id="{0bff5496-fa0c-8b5a-efb1-29894a8f849f}">
          <p14:sldIdLst>
            <p14:sldId id="259"/>
            <p14:sldId id="260"/>
            <p14:sldId id="261"/>
          </p14:sldIdLst>
        </p14:section>
        <p14:section name="Jak działa AI" id="{7f014ce0-b98f-fc43-c5e0-dffc0e784fc6}">
          <p14:sldIdLst>
            <p14:sldId id="262"/>
            <p14:sldId id="263"/>
            <p14:sldId id="264"/>
          </p14:sldIdLst>
        </p14:section>
        <p14:section name="Zespół i demo" id="{5c3a3435-9e6f-701c-626f-394dde707b58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Otwieramy: problem czytania ze zrozumieniem i nasza odpowiedź w jednym zdaniu. Sztafeta Słów to aplikacja, w której dzieci od 7 do 18 lat wspólnie piszą historie — ale żeby dopisać swój fragment, trzeba przeczytać i zrozumieć poprzednie.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Polska jest powyżej średniej UE w PISA 2025, ale pod spodem jest kryzys: 24 procent 15-latków nie osiąga poziomu podstawowego w czytaniu i mamy najniższą wytrwałość w nauce w UE. I to się nie „wyrasta”: w badaniu dorosłych PIAAC 2023 aż 39 procent Polaków jest na poziomie 1 lub niżej w rozumieniu tekstu, przy średniej OECD 26 procent — to jeden z najsłabszych wyników w OECD. Analfabetyzm funkcjonalny to też problem bezpieczeństwa — kto nie rozumie tekstu, łatwiej ulega dezinformacji.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Dzieci już masowo używają AI do nauki — ale zwykle po to, żeby dostać gotową odpowiedź. To zabija dokładnie tę umiejętność, której im brakuje. Nasz pomysł: AI w roli strażnika i recenzenta, a nie ściągawki.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Historia przeplata się: fragment AI, fragment dziecka, fragment AI… Dziecko czyta i dopisuje ciąg dalszy, AI moderuje i ocenia, czy fragment nawiązuje do historii. Jeśli się nie łączy — dziecko dostaje wskazówkę i poprawia. Jeśli tak — AI od razu dopisuje swój fragment, a pałeczkę przejmuje następne dziecko.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jest nasze demo na żywo. Trzy osoby w różnym wieku piszą jedną historię. Zosia rozumie tekst i dostaje pochwałę z dowodem. Kuba pisze nie na temat — AI nie przepuszcza tego, tylko pokazuje, co przeczytać jeszcze raz. Maja próbuje czegoś nieodpowiedniego i moderacja to zatrzymuje.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Trzy ekrany z prawdziwej aplikacji. Dziecko czyta historię i dopisuje swój fragment. AI ocenia zrozumienie i podświetla zdanie, na którym oparło ocenę — a narrator od razu dopisuje ciąg dalszy. Wulgaryzm albo dane osobowe zatrzymuje moderacja, z życzliwym komunikatem.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ma trzy role. Strażnik moderuje każdy fragment przed publikacją — najpierw szybka lokalna lista słów, potem model bezpieczeństwa, który łapie kontekst. Narrator zaczyna historie dopasowane do wieku. Recenzent ocenia zrozumienie. Modele działają na Groq — odpowiedź w 1,5–2 sekundy, co jest kluczowe, żeby dziecko nie czekało.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 spodem to orkiestracja kilku kroków. Najpierw szybka lista słów w kodzie, bez LLM. Potem osobny model bezpieczeństwa łapie kontekst: przemoc, nękanie, dane osobowe. Recenzent ocenia zrozumienie i podaje cytat, który kod sprawdza dosłownie we wcześniejszym tekście. Na końcu narrator dopisuje ciąg dalszy. Każdy krok ma własny prompt w pliku, odpowiedź to JSON walidowany schematem z jednym ponowieniem, a dostawcę modeli zmienia się jedną zmienną środowiskową — Groq odpowiada w 1,5–2 sekundy.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odpowiedź na wymóg zadania: jak użytkownik weryfikuje wyniki AI i zachowuje kontrolę. Każda ocena ma dosłowny cytat z wcześniejszego tekstu, który backend sprawdza, a frontend podświetla. Dziecko widzi, na czym AI oparło ocenę — i przy okazji uczy się szukać dowodów w tekście.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Dziękujemy. Zapraszamy do wypróbowania demo na telefonie — wystarczy wpisać imię i wybrać wiek.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74000" y="0"/>
            <a:ext cx="4318000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8775700" y="762000"/>
            <a:ext cx="2514600" cy="5334000"/>
          </a:xfrm>
          <a:prstGeom prst="roundRect">
            <a:avLst>
              <a:gd name="adj" fmla="val 9091"/>
            </a:avLst>
          </a:prstGeom>
          <a:solidFill>
            <a:srgbClr val="1F293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6500" y="812800"/>
            <a:ext cx="2413000" cy="5232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2800" y="1905000"/>
            <a:ext cx="685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spc="3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HACKYEAH 2026 · ARTIFICIAL INTELLIGENCE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12800" y="2438400"/>
            <a:ext cx="6858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Sztafeta Słów</a:t>
            </a:r>
            <a:endParaRPr lang="en-US" sz="8000" dirty="0"/>
          </a:p>
        </p:txBody>
      </p:sp>
      <p:sp>
        <p:nvSpPr>
          <p:cNvPr id="7" name="Text 4"/>
          <p:cNvSpPr txBox="1"/>
          <p:nvPr/>
        </p:nvSpPr>
        <p:spPr>
          <a:xfrm>
            <a:off x="812800" y="38100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Dzieci piszą historie sztafetą. AI pilnuje, żeby każdy najpierw </a:t>
            </a:r>
            <a:pPr algn="l"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przeczytał ze zrozumieniem</a:t>
            </a:r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12800" y="4889500"/>
            <a:ext cx="622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Zespół DropTheBase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spc="2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409700"/>
            <a:ext cx="9525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Wysoko w rankingu, ale co czwarty</a:t>
            </a: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15-latek nie rozumie tego, co czyta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768600"/>
            <a:ext cx="338455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DE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7600" y="3073400"/>
            <a:ext cx="27749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1117600" y="4013200"/>
            <a:ext cx="277495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15-latków </a:t>
            </a:r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poniżej poziomu podstawowego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 czytaniu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17600" y="5295900"/>
            <a:ext cx="27749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PISA 2025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0550" y="2768600"/>
            <a:ext cx="338455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DE4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5350" y="3073400"/>
            <a:ext cx="27749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4705350" y="4013200"/>
            <a:ext cx="277495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kończy zadanie, gdy robi się trudno — </a:t>
            </a:r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ostatnie miejsce w UE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(średnia 57%)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05350" y="5295900"/>
            <a:ext cx="27749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PISA 2025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88300" y="2768600"/>
            <a:ext cx="338455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DE4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93100" y="3073400"/>
            <a:ext cx="27749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8293100" y="4013200"/>
            <a:ext cx="277495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dorosłych </a:t>
            </a:r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radzi sobie ze zrozumieniem tekstu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(średnia OECD 26%)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93100" y="5295900"/>
            <a:ext cx="27749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PIAAC 2023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Źródła: PISA 2025 i PIAAC 2023 (OECD, IBE). Inspiracja: „Nauka. To Lubię”, T. Rożek.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12065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spc="200" kern="0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PARADOKS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701800"/>
            <a:ext cx="406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5334000" y="1701800"/>
            <a:ext cx="6045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polskich 15-latków co tydzień uczy się z chatbotem AI — więcej niż średnia UE (45%).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3746500"/>
            <a:ext cx="1016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Zwykły czat daje gotową odpowiedź. </a:t>
            </a:r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odwracamy rolę AI:</a:t>
            </a:r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nie odpowiada za dziecko, tylko sprawdza, czy dziecko zrozumiało.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Źródło: PISA 2025, moduł „15-latkowie w świecie cyfrowym” (Głos Nauczycielski).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spc="2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ROZWIĄZANIE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409700"/>
            <a:ext cx="1056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biegnie sztafetą: AI → dziecko → AI → dziecko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730500"/>
            <a:ext cx="2260600" cy="190500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1400" y="2959100"/>
            <a:ext cx="180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41400" y="3238500"/>
            <a:ext cx="1803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Zaczyna historię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41400" y="3873500"/>
            <a:ext cx="1803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dopasowaną do wieku, z „haczykiem”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3556000"/>
            <a:ext cx="254000" cy="254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81400" y="2730500"/>
            <a:ext cx="22606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DE4C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10000" y="2959100"/>
            <a:ext cx="180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Dziecko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810000" y="3238500"/>
            <a:ext cx="1803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Czyta i dopisuje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810000" y="3873500"/>
            <a:ext cx="1803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ciąg dalszy po fragmencie AI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3556000"/>
            <a:ext cx="254000" cy="254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50000" y="2730500"/>
            <a:ext cx="2260600" cy="190500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578600" y="2959100"/>
            <a:ext cx="180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AI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578600" y="3238500"/>
            <a:ext cx="1803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Moderuje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578600" y="3873500"/>
            <a:ext cx="1803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wulgaryzmy, przemoc, dane osobowe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00" y="3556000"/>
            <a:ext cx="254000" cy="254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118600" y="2730500"/>
            <a:ext cx="2260600" cy="190500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9347200" y="2959100"/>
            <a:ext cx="180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AI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9347200" y="3238500"/>
            <a:ext cx="1803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Ocenia zrozumienie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9347200" y="3873500"/>
            <a:ext cx="1803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łączy się? popraw i spróbuj znowu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12800" y="4927600"/>
            <a:ext cx="10566400" cy="101600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00" y="5257800"/>
            <a:ext cx="355600" cy="355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25600" y="4927600"/>
            <a:ext cx="9448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od razu dopisuje swój fragment, wszystko widać na żywo — a pałeczkę przejmuje następne dziecko.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spc="2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PRZYPADEK UŻYCIA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4097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telefony, jedna historia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22500"/>
            <a:ext cx="3384550" cy="2857500"/>
          </a:xfrm>
          <a:prstGeom prst="roundRect">
            <a:avLst>
              <a:gd name="adj" fmla="val 5333"/>
            </a:avLst>
          </a:prstGeom>
          <a:solidFill>
            <a:srgbClr val="DCFC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6800" y="2451100"/>
            <a:ext cx="76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1F2937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🐰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66800" y="3060700"/>
            <a:ext cx="2876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Zosia, 8 lat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66800" y="3479800"/>
            <a:ext cx="287655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 Fafik w ciemności zionął ogniem. AI: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★★★, 90%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podświetla zdanie, do którego nawiązała — i od razu dopisuje swój ciąg dalszy.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0550" y="2222500"/>
            <a:ext cx="3384550" cy="28575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54550" y="2451100"/>
            <a:ext cx="76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1F2937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🦊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654550" y="3060700"/>
            <a:ext cx="2876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Kuba, 15 lat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54550" y="3479800"/>
            <a:ext cx="287655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Pisze o meczu i kebabie. AI: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★, 15%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fragment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wraca do poprawy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 podświetlonym zdaniem, do którego trzeba nawiązać.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88300" y="2222500"/>
            <a:ext cx="3384550" cy="285750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42300" y="2451100"/>
            <a:ext cx="76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1F2937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🐱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242300" y="3060700"/>
            <a:ext cx="2876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Maja, 12 lat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242300" y="3479800"/>
            <a:ext cx="287655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Próbuje wulgaryzmu albo wpisuje adres i telefon.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Odrzucone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 przyjaznym komunikatem — nikt inny tego nie zobaczy.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5384800"/>
            <a:ext cx="10566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żywo: </a:t>
            </a:r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sztafeta-slow.vercel.app</a:t>
            </a:r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każdy fragment widać na pozostałych telefonach w ~1,5 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151765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spc="2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APLIKACJA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962150"/>
            <a:ext cx="266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 to wygląda na telefonie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4038600"/>
            <a:ext cx="355600" cy="355600"/>
          </a:xfrm>
          <a:prstGeom prst="ellipse">
            <a:avLst/>
          </a:prstGeom>
          <a:solidFill>
            <a:srgbClr val="1F29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95400" y="4038600"/>
            <a:ext cx="218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Czytasz i dopisujesz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81450" y="1016000"/>
            <a:ext cx="2330450" cy="4826000"/>
          </a:xfrm>
          <a:prstGeom prst="roundRect">
            <a:avLst>
              <a:gd name="adj" fmla="val 9809"/>
            </a:avLst>
          </a:prstGeom>
          <a:solidFill>
            <a:srgbClr val="1F293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2250" y="1066800"/>
            <a:ext cx="2228850" cy="472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29050" y="863600"/>
            <a:ext cx="406400" cy="406400"/>
          </a:xfrm>
          <a:prstGeom prst="ellipse">
            <a:avLst/>
          </a:prstGeom>
          <a:solidFill>
            <a:srgbClr val="1F2937"/>
          </a:solidFill>
          <a:ln w="38100">
            <a:solidFill>
              <a:srgbClr val="FFF7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2800" y="4572000"/>
            <a:ext cx="355600" cy="3556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95400" y="4572000"/>
            <a:ext cx="218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ocenia i pokazuje dowód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15100" y="1016000"/>
            <a:ext cx="2330450" cy="4826000"/>
          </a:xfrm>
          <a:prstGeom prst="roundRect">
            <a:avLst>
              <a:gd name="adj" fmla="val 9809"/>
            </a:avLst>
          </a:prstGeom>
          <a:solidFill>
            <a:srgbClr val="1F293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1066800"/>
            <a:ext cx="2228850" cy="4724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62700" y="863600"/>
            <a:ext cx="406400" cy="406400"/>
          </a:xfrm>
          <a:prstGeom prst="ellipse">
            <a:avLst/>
          </a:prstGeom>
          <a:solidFill>
            <a:srgbClr val="6D28D9"/>
          </a:solidFill>
          <a:ln w="38100">
            <a:solidFill>
              <a:srgbClr val="FFF7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12800" y="5105400"/>
            <a:ext cx="355600" cy="355600"/>
          </a:xfrm>
          <a:prstGeom prst="ellipse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295400" y="5105400"/>
            <a:ext cx="218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Moderacja zatrzymuje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9048750" y="1016000"/>
            <a:ext cx="2330450" cy="4826000"/>
          </a:xfrm>
          <a:prstGeom prst="roundRect">
            <a:avLst>
              <a:gd name="adj" fmla="val 9809"/>
            </a:avLst>
          </a:prstGeom>
          <a:solidFill>
            <a:srgbClr val="1F293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9550" y="1066800"/>
            <a:ext cx="2228850" cy="47244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96350" y="863600"/>
            <a:ext cx="406400" cy="406400"/>
          </a:xfrm>
          <a:prstGeom prst="ellipse">
            <a:avLst/>
          </a:prstGeom>
          <a:solidFill>
            <a:srgbClr val="B91C1C"/>
          </a:solidFill>
          <a:ln w="38100">
            <a:solidFill>
              <a:srgbClr val="FFF7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spc="2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ROLA AI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409700"/>
            <a:ext cx="1056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zadania, nigdy „odpowiedź za dziecko”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667000"/>
            <a:ext cx="3384550" cy="298450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00" y="2946400"/>
            <a:ext cx="406400" cy="406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2200" y="3479800"/>
            <a:ext cx="2825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Strażnik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92200" y="3898900"/>
            <a:ext cx="282575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polskich wulgaryzmów (bez LLM, 0,2 s) + model bezpieczeństwa: przemoc, treści seksualne, nękanie, dane osobowe.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0550" y="2667000"/>
            <a:ext cx="3384550" cy="298450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950" y="2946400"/>
            <a:ext cx="406400" cy="406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79950" y="3479800"/>
            <a:ext cx="2825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Narrator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4679950" y="3898900"/>
            <a:ext cx="282575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Pisze początek historii dla 7–10, 11–14 lub 15–18 lat: postacie z imionami, konkretne fakty, otwarte zakończenie.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88300" y="2667000"/>
            <a:ext cx="3384550" cy="298450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700" y="2946400"/>
            <a:ext cx="406400" cy="406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267700" y="3479800"/>
            <a:ext cx="2825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Recenzent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8267700" y="3898900"/>
            <a:ext cx="282575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Sprawdza nawiązanie do postaci, faktów i sytuacji — nie ortografię. Wynik 0–100, komentarz i cytat-dowód.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spc="2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ORKIESTRACJA AI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2573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Łańcuch AI dla każdego fragmentu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32000"/>
            <a:ext cx="1778000" cy="2032000"/>
          </a:xfrm>
          <a:prstGeom prst="roundRect">
            <a:avLst>
              <a:gd name="adj" fmla="val 8571"/>
            </a:avLst>
          </a:prstGeom>
          <a:solidFill>
            <a:srgbClr val="FFF7ED"/>
          </a:solidFill>
          <a:ln w="19050">
            <a:solidFill>
              <a:srgbClr val="FDE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600" y="2209800"/>
            <a:ext cx="142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kod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90600" y="2476500"/>
            <a:ext cx="142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słów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90600" y="3098800"/>
            <a:ext cx="14224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polskie wulgaryzmy, bez LLM, 0,2 s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3350" y="2921000"/>
            <a:ext cx="254000" cy="254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09900" y="2032000"/>
            <a:ext cx="1778000" cy="2032000"/>
          </a:xfrm>
          <a:prstGeom prst="roundRect">
            <a:avLst>
              <a:gd name="adj" fmla="val 8571"/>
            </a:avLst>
          </a:prstGeom>
          <a:solidFill>
            <a:srgbClr val="F3E8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187700" y="2209800"/>
            <a:ext cx="142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AI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187700" y="2476500"/>
            <a:ext cx="142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Strażnik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187700" y="3098800"/>
            <a:ext cx="14224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bezpieczeństwa: przemoc, nękanie, dane osobowe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450" y="2921000"/>
            <a:ext cx="254000" cy="254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07000" y="2032000"/>
            <a:ext cx="1778000" cy="2032000"/>
          </a:xfrm>
          <a:prstGeom prst="roundRect">
            <a:avLst>
              <a:gd name="adj" fmla="val 8571"/>
            </a:avLst>
          </a:prstGeom>
          <a:solidFill>
            <a:srgbClr val="F3E8F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384800" y="2209800"/>
            <a:ext cx="142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AI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384800" y="2476500"/>
            <a:ext cx="142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Recenzent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384800" y="3098800"/>
            <a:ext cx="14224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ocena zrozumienia 0–100 i cytat-dowód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550" y="2921000"/>
            <a:ext cx="254000" cy="254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04100" y="2032000"/>
            <a:ext cx="1778000" cy="2032000"/>
          </a:xfrm>
          <a:prstGeom prst="roundRect">
            <a:avLst>
              <a:gd name="adj" fmla="val 8571"/>
            </a:avLst>
          </a:prstGeom>
          <a:solidFill>
            <a:srgbClr val="FFF7ED"/>
          </a:solidFill>
          <a:ln w="19050">
            <a:solidFill>
              <a:srgbClr val="FDE4C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581900" y="2209800"/>
            <a:ext cx="142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kod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581900" y="2476500"/>
            <a:ext cx="142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Sprawdzenie cytatu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7581900" y="3098800"/>
            <a:ext cx="14224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 być dosłownie we wcześniejszym tekście</a:t>
            </a:r>
            <a:endParaRPr lang="en-US" sz="1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4650" y="2921000"/>
            <a:ext cx="254000" cy="2540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601200" y="2032000"/>
            <a:ext cx="1778000" cy="2032000"/>
          </a:xfrm>
          <a:prstGeom prst="roundRect">
            <a:avLst>
              <a:gd name="adj" fmla="val 8571"/>
            </a:avLst>
          </a:prstGeom>
          <a:solidFill>
            <a:srgbClr val="F3E8FF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9779000" y="2209800"/>
            <a:ext cx="142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AI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9779000" y="2476500"/>
            <a:ext cx="142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Narrator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9779000" y="3098800"/>
            <a:ext cx="14224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dopisuje ciąg dalszy, pałeczka idzie dalej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812800" y="43180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ZASADY KAŻDEGO WYWOŁANIA AI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812800" y="4660900"/>
            <a:ext cx="2489200" cy="1384300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990600" y="4838700"/>
            <a:ext cx="213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na krok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990600" y="516890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osobny prompt dla każdego zadania, w plikach .md poza kodem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3505200" y="4660900"/>
            <a:ext cx="2489200" cy="1384300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3683000" y="4838700"/>
            <a:ext cx="213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+ schemat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3683000" y="516890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każda odpowiedź walidowana; błąd → jedno ponowienie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6197600" y="4660900"/>
            <a:ext cx="2489200" cy="1384300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375400" y="4838700"/>
            <a:ext cx="213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do zadania</a:t>
            </a:r>
            <a:endParaRPr lang="en-US" sz="1500" dirty="0"/>
          </a:p>
        </p:txBody>
      </p:sp>
      <p:sp>
        <p:nvSpPr>
          <p:cNvPr id="37" name="Text 31"/>
          <p:cNvSpPr txBox="1"/>
          <p:nvPr/>
        </p:nvSpPr>
        <p:spPr>
          <a:xfrm>
            <a:off x="6375400" y="516890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osobny model bezpieczeństwa do moderacji, większy do pisania i oceny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8890000" y="4660900"/>
            <a:ext cx="2489200" cy="1384300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9067800" y="4838700"/>
            <a:ext cx="213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Wymienny dostawca</a:t>
            </a:r>
            <a:endParaRPr lang="en-US" sz="1500" dirty="0"/>
          </a:p>
        </p:txBody>
      </p:sp>
      <p:sp>
        <p:nvSpPr>
          <p:cNvPr id="40" name="Text 34"/>
          <p:cNvSpPr txBox="1"/>
          <p:nvPr/>
        </p:nvSpPr>
        <p:spPr>
          <a:xfrm>
            <a:off x="9067800" y="516890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za interfejsem LLMProvider; bez sieci MockProvider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890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spc="2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WERYFIKACJA I KONTROLA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384300"/>
            <a:ext cx="7416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musi pokazać dowód — nie wystarczy werdykt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540000"/>
            <a:ext cx="74168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może źle ocenić zrozumienie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dlatego ocena tylko doradza, a cytat pozwala ją sprawdzić.</a:t>
            </a:r>
            <a:endParaRPr lang="en-US" sz="1500" dirty="0"/>
          </a:p>
          <a:p>
            <a:pPr algn="l"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Cytat sprawdzany w kodzie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jeśli nie ma go dosłownie we wcześniejszym tekście, odrzucamy go.</a:t>
            </a:r>
            <a:endParaRPr lang="en-US" sz="1500" dirty="0"/>
          </a:p>
          <a:p>
            <a:pPr algn="l"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„Nie łączy się” = popraw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tekst zostaje, dziecko widzi dowód i próbuje jeszcze raz.</a:t>
            </a:r>
            <a:endParaRPr lang="en-US" sz="1500" dirty="0"/>
          </a:p>
          <a:p>
            <a:pPr algn="l"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Błąd modelu = bezpieczne odrzucenie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(„spróbuj za chwilę”), nigdy automatyczna akceptacja.</a:t>
            </a:r>
            <a:endParaRPr lang="en-US" sz="1500" dirty="0"/>
          </a:p>
          <a:p>
            <a:pPr algn="l"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Każda decyzja zapisana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model, werdykt, uzasadnienie, surowy JSON.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877300" y="812800"/>
            <a:ext cx="2463800" cy="5232400"/>
          </a:xfrm>
          <a:prstGeom prst="roundRect">
            <a:avLst>
              <a:gd name="adj" fmla="val 9278"/>
            </a:avLst>
          </a:prstGeom>
          <a:solidFill>
            <a:srgbClr val="1F293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8100" y="863600"/>
            <a:ext cx="2362200" cy="5130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7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8890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Przeczytaj. Zrozum. Przekaż pałeczkę.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12800" y="4445000"/>
            <a:ext cx="6985000" cy="160020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2200" y="4724400"/>
            <a:ext cx="6426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Zespół DropTheBase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2200" y="5143500"/>
            <a:ext cx="6426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sztafeta-slow.vercel.app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Kod: 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github.com/Drop-the-Base/sztafeta-slow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ztafeta Słów">
  <a:themeElements>
    <a:clrScheme name="Sztafeta Słów">
      <a:dk1>
        <a:srgbClr val="1F2937"/>
      </a:dk1>
      <a:lt1>
        <a:srgbClr val="FFFFFF"/>
      </a:lt1>
      <a:dk2>
        <a:srgbClr val="4B5563"/>
      </a:dk2>
      <a:lt2>
        <a:srgbClr val="FFF7ED"/>
      </a:lt2>
      <a:accent1>
        <a:srgbClr val="F97316"/>
      </a:accent1>
      <a:accent2>
        <a:srgbClr val="6D28D9"/>
      </a:accent2>
      <a:accent3>
        <a:srgbClr val="C2410C"/>
      </a:accent3>
      <a:accent4>
        <a:srgbClr val="FDBA74"/>
      </a:accent4>
      <a:accent5>
        <a:srgbClr val="F3E8FF"/>
      </a:accent5>
      <a:accent6>
        <a:srgbClr val="B91C1C"/>
      </a:accent6>
      <a:hlink>
        <a:srgbClr val="6D28D9"/>
      </a:hlink>
      <a:folHlink>
        <a:srgbClr val="C2410C"/>
      </a:folHlink>
    </a:clrScheme>
    <a:fontScheme name="Sztafeta Słó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Sztafeta Słów — pitch HackYeah</dc:title>
  <dc:subject>PptxGenJS Presentation</dc:subject>
  <dc:creator>Zespół DropTheBase</dc:creator>
  <cp:lastModifiedBy>Zespół DropTheBase</cp:lastModifiedBy>
  <cp:revision>1</cp:revision>
  <dcterms:created xsi:type="dcterms:W3CDTF">2026-10-04T08:34:37Z</dcterms:created>
  <dcterms:modified xsi:type="dcterms:W3CDTF">2026-10-04T08:34:37Z</dcterms:modified>
</cp:coreProperties>
</file>